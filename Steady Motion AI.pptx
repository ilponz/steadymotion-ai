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Hagrid Light" charset="1" panose="00000400000000000000"/>
      <p:regular r:id="rId10"/>
    </p:embeddedFont>
    <p:embeddedFont>
      <p:font typeface="Hagrid" charset="1" panose="00000500000000000000"/>
      <p:regular r:id="rId11"/>
    </p:embeddedFont>
    <p:embeddedFont>
      <p:font typeface="Hagrid Medium" charset="1" panose="00000600000000000000"/>
      <p:regular r:id="rId12"/>
    </p:embeddedFont>
    <p:embeddedFont>
      <p:font typeface="Hagrid Ultra-Bold" charset="1" panose="00000800000000000000"/>
      <p:regular r:id="rId13"/>
    </p:embeddedFont>
    <p:embeddedFont>
      <p:font typeface="Open Sauce Medium" charset="1" panose="00000600000000000000"/>
      <p:regular r:id="rId14"/>
    </p:embeddedFont>
    <p:embeddedFont>
      <p:font typeface="Open Sauce" charset="1" panose="00000500000000000000"/>
      <p:regular r:id="rId15"/>
    </p:embeddedFont>
    <p:embeddedFont>
      <p:font typeface="DM Sans" charset="1" panose="00000000000000000000"/>
      <p:regular r:id="rId16"/>
    </p:embeddedFont>
    <p:embeddedFont>
      <p:font typeface="DM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2" Target="../media/image4.png" Type="http://schemas.openxmlformats.org/officeDocument/2006/relationships/image"/><Relationship Id="rId3" Target="../media/image8.pn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60982" y="-1317372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24232" y="126254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7" y="0"/>
                </a:lnTo>
                <a:lnTo>
                  <a:pt x="852406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685050" y="7936407"/>
            <a:ext cx="5574250" cy="1321893"/>
            <a:chOff x="0" y="0"/>
            <a:chExt cx="1468115" cy="3481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8115" cy="348153"/>
            </a:xfrm>
            <a:custGeom>
              <a:avLst/>
              <a:gdLst/>
              <a:ahLst/>
              <a:cxnLst/>
              <a:rect r="r" b="b" t="t" l="l"/>
              <a:pathLst>
                <a:path h="348153" w="1468115">
                  <a:moveTo>
                    <a:pt x="19444" y="0"/>
                  </a:moveTo>
                  <a:lnTo>
                    <a:pt x="1448671" y="0"/>
                  </a:lnTo>
                  <a:cubicBezTo>
                    <a:pt x="1459410" y="0"/>
                    <a:pt x="1468115" y="8705"/>
                    <a:pt x="1468115" y="19444"/>
                  </a:cubicBezTo>
                  <a:lnTo>
                    <a:pt x="1468115" y="328709"/>
                  </a:lnTo>
                  <a:cubicBezTo>
                    <a:pt x="1468115" y="339447"/>
                    <a:pt x="1459410" y="348153"/>
                    <a:pt x="1448671" y="348153"/>
                  </a:cubicBezTo>
                  <a:lnTo>
                    <a:pt x="19444" y="348153"/>
                  </a:lnTo>
                  <a:cubicBezTo>
                    <a:pt x="8705" y="348153"/>
                    <a:pt x="0" y="339447"/>
                    <a:pt x="0" y="328709"/>
                  </a:cubicBezTo>
                  <a:lnTo>
                    <a:pt x="0" y="19444"/>
                  </a:lnTo>
                  <a:cubicBezTo>
                    <a:pt x="0" y="8705"/>
                    <a:pt x="8705" y="0"/>
                    <a:pt x="19444" y="0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78FFA9">
                      <a:alpha val="100000"/>
                    </a:srgbClr>
                  </a:gs>
                  <a:gs pos="100000">
                    <a:srgbClr val="D0FF8C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68115" cy="395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64464" y="3029078"/>
            <a:ext cx="2294836" cy="657863"/>
            <a:chOff x="0" y="0"/>
            <a:chExt cx="604401" cy="173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4401" cy="173264"/>
            </a:xfrm>
            <a:custGeom>
              <a:avLst/>
              <a:gdLst/>
              <a:ahLst/>
              <a:cxnLst/>
              <a:rect r="r" b="b" t="t" l="l"/>
              <a:pathLst>
                <a:path h="173264" w="604401">
                  <a:moveTo>
                    <a:pt x="86632" y="0"/>
                  </a:moveTo>
                  <a:lnTo>
                    <a:pt x="517769" y="0"/>
                  </a:lnTo>
                  <a:cubicBezTo>
                    <a:pt x="540745" y="0"/>
                    <a:pt x="562781" y="9127"/>
                    <a:pt x="579027" y="25374"/>
                  </a:cubicBezTo>
                  <a:cubicBezTo>
                    <a:pt x="595274" y="41621"/>
                    <a:pt x="604401" y="63656"/>
                    <a:pt x="604401" y="86632"/>
                  </a:cubicBezTo>
                  <a:lnTo>
                    <a:pt x="604401" y="86632"/>
                  </a:lnTo>
                  <a:cubicBezTo>
                    <a:pt x="604401" y="134478"/>
                    <a:pt x="565615" y="173264"/>
                    <a:pt x="517769" y="173264"/>
                  </a:cubicBezTo>
                  <a:lnTo>
                    <a:pt x="86632" y="173264"/>
                  </a:lnTo>
                  <a:cubicBezTo>
                    <a:pt x="63656" y="173264"/>
                    <a:pt x="41621" y="164137"/>
                    <a:pt x="25374" y="147890"/>
                  </a:cubicBezTo>
                  <a:cubicBezTo>
                    <a:pt x="9127" y="131644"/>
                    <a:pt x="0" y="109608"/>
                    <a:pt x="0" y="86632"/>
                  </a:cubicBezTo>
                  <a:lnTo>
                    <a:pt x="0" y="86632"/>
                  </a:lnTo>
                  <a:cubicBezTo>
                    <a:pt x="0" y="63656"/>
                    <a:pt x="9127" y="41621"/>
                    <a:pt x="25374" y="25374"/>
                  </a:cubicBezTo>
                  <a:cubicBezTo>
                    <a:pt x="41621" y="9127"/>
                    <a:pt x="63656" y="0"/>
                    <a:pt x="8663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8FFA9">
                    <a:alpha val="100000"/>
                  </a:srgbClr>
                </a:gs>
                <a:gs pos="100000">
                  <a:srgbClr val="D0FF8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604401" cy="2208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16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504102" y="8487159"/>
            <a:ext cx="399436" cy="399436"/>
          </a:xfrm>
          <a:custGeom>
            <a:avLst/>
            <a:gdLst/>
            <a:ahLst/>
            <a:cxnLst/>
            <a:rect r="r" b="b" t="t" l="l"/>
            <a:pathLst>
              <a:path h="399436" w="399436">
                <a:moveTo>
                  <a:pt x="0" y="0"/>
                </a:moveTo>
                <a:lnTo>
                  <a:pt x="399435" y="0"/>
                </a:lnTo>
                <a:lnTo>
                  <a:pt x="399435" y="399436"/>
                </a:lnTo>
                <a:lnTo>
                  <a:pt x="0" y="3994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483103"/>
            <a:ext cx="9289205" cy="2840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9"/>
              </a:lnSpc>
            </a:pPr>
            <a:r>
              <a:rPr lang="en-US" sz="16406" spc="-869">
                <a:solidFill>
                  <a:srgbClr val="FFFFFF"/>
                </a:solidFill>
                <a:latin typeface="Hagrid Light"/>
                <a:ea typeface="Hagrid Light"/>
                <a:cs typeface="Hagrid Light"/>
                <a:sym typeface="Hagrid Light"/>
              </a:rPr>
              <a:t>Steady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565260"/>
            <a:ext cx="11841407" cy="2840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9"/>
              </a:lnSpc>
            </a:pPr>
            <a:r>
              <a:rPr lang="en-US" sz="16406" spc="-869">
                <a:gradFill>
                  <a:gsLst>
                    <a:gs pos="0">
                      <a:srgbClr val="78FFA9">
                        <a:alpha val="100000"/>
                      </a:srgbClr>
                    </a:gs>
                    <a:gs pos="100000">
                      <a:srgbClr val="D0FF8C">
                        <a:alpha val="100000"/>
                      </a:srgbClr>
                    </a:gs>
                  </a:gsLst>
                  <a:lin ang="0"/>
                </a:gradFill>
                <a:latin typeface="Hagrid Light"/>
                <a:ea typeface="Hagrid Light"/>
                <a:cs typeface="Hagrid Light"/>
                <a:sym typeface="Hagrid Light"/>
              </a:rPr>
              <a:t>Motion 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42975"/>
            <a:ext cx="6354252" cy="118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7"/>
              </a:lnSpc>
            </a:pPr>
            <a:r>
              <a:rPr lang="en-US" sz="3362" spc="-178">
                <a:solidFill>
                  <a:srgbClr val="FFFFFF"/>
                </a:solidFill>
                <a:latin typeface="Hagrid"/>
                <a:ea typeface="Hagrid"/>
                <a:cs typeface="Hagrid"/>
                <a:sym typeface="Hagrid"/>
              </a:rPr>
              <a:t>Desogus A.A.Paolo, Achir Abd El Basset,Ponzin Alex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786562" y="981075"/>
            <a:ext cx="2472738" cy="77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95"/>
              </a:lnSpc>
            </a:pPr>
            <a:r>
              <a:rPr lang="en-US" sz="2211" spc="-117">
                <a:solidFill>
                  <a:srgbClr val="FFFFFF"/>
                </a:solidFill>
                <a:latin typeface="Hagrid"/>
                <a:ea typeface="Hagrid"/>
                <a:cs typeface="Hagrid"/>
                <a:sym typeface="Hagrid"/>
              </a:rPr>
              <a:t>25 Settembre,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23791" y="3117335"/>
            <a:ext cx="1976182" cy="4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3"/>
              </a:lnSpc>
            </a:pPr>
            <a:r>
              <a:rPr lang="en-US" sz="2424" spc="-128">
                <a:solidFill>
                  <a:srgbClr val="03190B"/>
                </a:solidFill>
                <a:latin typeface="Hagrid Light"/>
                <a:ea typeface="Hagrid Light"/>
                <a:cs typeface="Hagrid Light"/>
                <a:sym typeface="Hagrid Light"/>
              </a:rPr>
              <a:t>Presentation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627745"/>
            <a:ext cx="9289205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95">
                <a:solidFill>
                  <a:srgbClr val="FFFFFF"/>
                </a:solidFill>
                <a:latin typeface="Hagrid Light"/>
                <a:ea typeface="Hagrid Light"/>
                <a:cs typeface="Hagrid Light"/>
                <a:sym typeface="Hagrid Light"/>
              </a:rPr>
              <a:t>Il mercato vende plastica e sensori infrarossi a peso d'oro.</a:t>
            </a:r>
          </a:p>
          <a:p>
            <a:pPr algn="l">
              <a:lnSpc>
                <a:spcPts val="2520"/>
              </a:lnSpc>
            </a:pPr>
            <a:r>
              <a:rPr lang="en-US" sz="1800" spc="-95">
                <a:solidFill>
                  <a:srgbClr val="FFFFFF"/>
                </a:solidFill>
                <a:latin typeface="Hagrid Light"/>
                <a:ea typeface="Hagrid Light"/>
                <a:cs typeface="Hagrid Light"/>
                <a:sym typeface="Hagrid Light"/>
              </a:rPr>
              <a:t>SteadyMotion dimostra che per restituire la parola e l'autonomia a chi non può muovere le mani non serviva nuovo hardware: serviva un algoritmo migliore.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651884"/>
            <a:ext cx="6394316" cy="88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spc="-132" b="true">
                <a:solidFill>
                  <a:srgbClr val="FFFFFF"/>
                </a:solidFill>
                <a:latin typeface="Hagrid Medium"/>
                <a:ea typeface="Hagrid Medium"/>
                <a:cs typeface="Hagrid Medium"/>
                <a:sym typeface="Hagrid Medium"/>
              </a:rPr>
              <a:t>Tecnologia che si adatta alle persone, non persone che si adattano ad essa.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83455" y="7966798"/>
            <a:ext cx="1441224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95">
                <a:solidFill>
                  <a:srgbClr val="FFFFFF"/>
                </a:solidFill>
                <a:latin typeface="Hagrid"/>
                <a:ea typeface="Hagrid"/>
                <a:cs typeface="Hagrid"/>
                <a:sym typeface="Hagrid"/>
              </a:rPr>
              <a:t>Presented by: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983455" y="8534506"/>
            <a:ext cx="4520647" cy="104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6"/>
              </a:lnSpc>
            </a:pPr>
            <a:r>
              <a:rPr lang="en-US" b="true" sz="1962" spc="-103">
                <a:gradFill>
                  <a:gsLst>
                    <a:gs pos="0">
                      <a:srgbClr val="78FFA9">
                        <a:alpha val="100000"/>
                      </a:srgbClr>
                    </a:gs>
                    <a:gs pos="100000">
                      <a:srgbClr val="D0FF8C">
                        <a:alpha val="100000"/>
                      </a:srgbClr>
                    </a:gs>
                  </a:gsLst>
                  <a:lin ang="2700000"/>
                </a:gradFill>
                <a:latin typeface="Hagrid Ultra-Bold"/>
                <a:ea typeface="Hagrid Ultra-Bold"/>
                <a:cs typeface="Hagrid Ultra-Bold"/>
                <a:sym typeface="Hagrid Ultra-Bold"/>
              </a:rPr>
              <a:t> Desogus A.A. Paolo, Achir Abd El Basset,Ponzin Alex</a:t>
            </a:r>
          </a:p>
          <a:p>
            <a:pPr algn="l">
              <a:lnSpc>
                <a:spcPts val="2746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021889" y="5747054"/>
            <a:ext cx="3237411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999"/>
              </a:lnSpc>
            </a:pPr>
            <a:r>
              <a:rPr lang="en-US" b="true" sz="4999" spc="-264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0$ Budget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35379" y="6591605"/>
            <a:ext cx="162392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spc="-9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#FreeSoftware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-5085801" y="6796753"/>
            <a:ext cx="8524068" cy="8229600"/>
          </a:xfrm>
          <a:custGeom>
            <a:avLst/>
            <a:gdLst/>
            <a:ahLst/>
            <a:cxnLst/>
            <a:rect r="r" b="b" t="t" l="l"/>
            <a:pathLst>
              <a:path h="8229600" w="8524068">
                <a:moveTo>
                  <a:pt x="0" y="0"/>
                </a:moveTo>
                <a:lnTo>
                  <a:pt x="8524068" y="0"/>
                </a:lnTo>
                <a:lnTo>
                  <a:pt x="852406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61533" y="-4854552"/>
            <a:ext cx="11359122" cy="11359122"/>
          </a:xfrm>
          <a:custGeom>
            <a:avLst/>
            <a:gdLst/>
            <a:ahLst/>
            <a:cxnLst/>
            <a:rect r="r" b="b" t="t" l="l"/>
            <a:pathLst>
              <a:path h="11359122" w="11359122">
                <a:moveTo>
                  <a:pt x="0" y="0"/>
                </a:moveTo>
                <a:lnTo>
                  <a:pt x="11359122" y="0"/>
                </a:lnTo>
                <a:lnTo>
                  <a:pt x="11359122" y="11359123"/>
                </a:lnTo>
                <a:lnTo>
                  <a:pt x="0" y="1135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53456" y="5968407"/>
            <a:ext cx="9327202" cy="6202589"/>
          </a:xfrm>
          <a:custGeom>
            <a:avLst/>
            <a:gdLst/>
            <a:ahLst/>
            <a:cxnLst/>
            <a:rect r="r" b="b" t="t" l="l"/>
            <a:pathLst>
              <a:path h="6202589" w="9327202">
                <a:moveTo>
                  <a:pt x="0" y="0"/>
                </a:moveTo>
                <a:lnTo>
                  <a:pt x="9327202" y="0"/>
                </a:lnTo>
                <a:lnTo>
                  <a:pt x="9327202" y="6202589"/>
                </a:lnTo>
                <a:lnTo>
                  <a:pt x="0" y="62025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239889"/>
            <a:ext cx="10351667" cy="158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4"/>
              </a:lnSpc>
            </a:pPr>
            <a:r>
              <a:rPr lang="en-US" sz="12196" spc="-573" b="true">
                <a:solidFill>
                  <a:srgbClr val="FFFFFF"/>
                </a:solidFill>
                <a:latin typeface="Hagrid Medium"/>
                <a:ea typeface="Hagrid Medium"/>
                <a:cs typeface="Hagrid Medium"/>
                <a:sym typeface="Hagrid Medium"/>
              </a:rPr>
              <a:t>Introduzione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465042"/>
            <a:ext cx="754504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SteadyMotion è un software dedito al supporto per persone affette da disabilità motorie gravi o da patologie neurologiche che ne alterano i movimenti.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09646" y="7065645"/>
            <a:ext cx="6549654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8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Il progetto nasce per permettere anche a chi in condizioni normali non potrebbe di accedere alla tecnologia in maniera semplice, dinamica e soprattutto personalizzata.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66319" y="763422"/>
            <a:ext cx="509208" cy="428599"/>
          </a:xfrm>
          <a:custGeom>
            <a:avLst/>
            <a:gdLst/>
            <a:ahLst/>
            <a:cxnLst/>
            <a:rect r="r" b="b" t="t" l="l"/>
            <a:pathLst>
              <a:path h="428599" w="509208">
                <a:moveTo>
                  <a:pt x="0" y="0"/>
                </a:moveTo>
                <a:lnTo>
                  <a:pt x="509207" y="0"/>
                </a:lnTo>
                <a:lnTo>
                  <a:pt x="509207" y="428600"/>
                </a:lnTo>
                <a:lnTo>
                  <a:pt x="0" y="428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06760" y="650408"/>
            <a:ext cx="2794872" cy="5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3477" spc="-163" b="true">
                <a:solidFill>
                  <a:srgbClr val="FFFFF8"/>
                </a:solidFill>
                <a:latin typeface="DM Sans Bold"/>
                <a:ea typeface="DM Sans Bold"/>
                <a:cs typeface="DM Sans Bold"/>
                <a:sym typeface="DM Sans Bold"/>
              </a:rPr>
              <a:t>SteadyMotion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09146" y="869633"/>
            <a:ext cx="3450154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0"/>
              </a:lnSpc>
            </a:pPr>
            <a:r>
              <a:rPr lang="en-US" sz="1500" spc="-84">
                <a:solidFill>
                  <a:srgbClr val="FFFFF8"/>
                </a:solidFill>
                <a:latin typeface="Hagrid"/>
                <a:ea typeface="Hagrid"/>
                <a:cs typeface="Hagrid"/>
                <a:sym typeface="Hagrid"/>
              </a:rPr>
              <a:t>By Achir,Desogus,Ponzin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18723" y="5044445"/>
            <a:ext cx="11359122" cy="11359122"/>
          </a:xfrm>
          <a:custGeom>
            <a:avLst/>
            <a:gdLst/>
            <a:ahLst/>
            <a:cxnLst/>
            <a:rect r="r" b="b" t="t" l="l"/>
            <a:pathLst>
              <a:path h="11359122" w="11359122">
                <a:moveTo>
                  <a:pt x="0" y="0"/>
                </a:moveTo>
                <a:lnTo>
                  <a:pt x="11359122" y="0"/>
                </a:lnTo>
                <a:lnTo>
                  <a:pt x="11359122" y="11359123"/>
                </a:lnTo>
                <a:lnTo>
                  <a:pt x="0" y="1135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93379" y="-4428780"/>
            <a:ext cx="6101241" cy="6101241"/>
          </a:xfrm>
          <a:custGeom>
            <a:avLst/>
            <a:gdLst/>
            <a:ahLst/>
            <a:cxnLst/>
            <a:rect r="r" b="b" t="t" l="l"/>
            <a:pathLst>
              <a:path h="6101241" w="6101241">
                <a:moveTo>
                  <a:pt x="0" y="0"/>
                </a:moveTo>
                <a:lnTo>
                  <a:pt x="6101242" y="0"/>
                </a:lnTo>
                <a:lnTo>
                  <a:pt x="6101242" y="6101241"/>
                </a:lnTo>
                <a:lnTo>
                  <a:pt x="0" y="6101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666678" y="1775908"/>
            <a:ext cx="6592622" cy="7482392"/>
            <a:chOff x="0" y="0"/>
            <a:chExt cx="1736328" cy="19706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6328" cy="1970671"/>
            </a:xfrm>
            <a:custGeom>
              <a:avLst/>
              <a:gdLst/>
              <a:ahLst/>
              <a:cxnLst/>
              <a:rect r="r" b="b" t="t" l="l"/>
              <a:pathLst>
                <a:path h="1970671" w="1736328">
                  <a:moveTo>
                    <a:pt x="23487" y="0"/>
                  </a:moveTo>
                  <a:lnTo>
                    <a:pt x="1712842" y="0"/>
                  </a:lnTo>
                  <a:cubicBezTo>
                    <a:pt x="1725813" y="0"/>
                    <a:pt x="1736328" y="10515"/>
                    <a:pt x="1736328" y="23487"/>
                  </a:cubicBezTo>
                  <a:lnTo>
                    <a:pt x="1736328" y="1947185"/>
                  </a:lnTo>
                  <a:cubicBezTo>
                    <a:pt x="1736328" y="1960156"/>
                    <a:pt x="1725813" y="1970671"/>
                    <a:pt x="1712842" y="1970671"/>
                  </a:cubicBezTo>
                  <a:lnTo>
                    <a:pt x="23487" y="1970671"/>
                  </a:lnTo>
                  <a:cubicBezTo>
                    <a:pt x="10515" y="1970671"/>
                    <a:pt x="0" y="1960156"/>
                    <a:pt x="0" y="1947185"/>
                  </a:cubicBezTo>
                  <a:lnTo>
                    <a:pt x="0" y="23487"/>
                  </a:lnTo>
                  <a:cubicBezTo>
                    <a:pt x="0" y="10515"/>
                    <a:pt x="10515" y="0"/>
                    <a:pt x="234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FFFF8">
                      <a:alpha val="100000"/>
                    </a:srgbClr>
                  </a:gs>
                  <a:gs pos="100000">
                    <a:srgbClr val="FFFFF8">
                      <a:alpha val="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736328" cy="1989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477529" y="7299012"/>
            <a:ext cx="9918691" cy="3358310"/>
            <a:chOff x="0" y="0"/>
            <a:chExt cx="3716749" cy="125843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16750" cy="1258444"/>
            </a:xfrm>
            <a:custGeom>
              <a:avLst/>
              <a:gdLst/>
              <a:ahLst/>
              <a:cxnLst/>
              <a:rect r="r" b="b" t="t" l="l"/>
              <a:pathLst>
                <a:path h="1258444" w="3716750">
                  <a:moveTo>
                    <a:pt x="3229308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080771"/>
                  </a:lnTo>
                  <a:cubicBezTo>
                    <a:pt x="0" y="1178897"/>
                    <a:pt x="79547" y="1258444"/>
                    <a:pt x="177673" y="1258444"/>
                  </a:cubicBezTo>
                  <a:lnTo>
                    <a:pt x="3539077" y="1258444"/>
                  </a:lnTo>
                  <a:cubicBezTo>
                    <a:pt x="3637203" y="1258444"/>
                    <a:pt x="3716750" y="1178897"/>
                    <a:pt x="3716750" y="1080771"/>
                  </a:cubicBezTo>
                  <a:lnTo>
                    <a:pt x="3716750" y="523958"/>
                  </a:lnTo>
                  <a:cubicBezTo>
                    <a:pt x="3716750" y="480251"/>
                    <a:pt x="3700640" y="438079"/>
                    <a:pt x="3671501" y="405503"/>
                  </a:cubicBezTo>
                  <a:lnTo>
                    <a:pt x="3361724" y="59214"/>
                  </a:lnTo>
                  <a:cubicBezTo>
                    <a:pt x="3328020" y="21536"/>
                    <a:pt x="3279861" y="0"/>
                    <a:pt x="322930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8202" r="0" b="-48202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045222" y="2952573"/>
            <a:ext cx="689814" cy="689814"/>
          </a:xfrm>
          <a:custGeom>
            <a:avLst/>
            <a:gdLst/>
            <a:ahLst/>
            <a:cxnLst/>
            <a:rect r="r" b="b" t="t" l="l"/>
            <a:pathLst>
              <a:path h="689814" w="689814">
                <a:moveTo>
                  <a:pt x="0" y="0"/>
                </a:moveTo>
                <a:lnTo>
                  <a:pt x="689814" y="0"/>
                </a:lnTo>
                <a:lnTo>
                  <a:pt x="689814" y="689814"/>
                </a:lnTo>
                <a:lnTo>
                  <a:pt x="0" y="689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045222" y="4922499"/>
            <a:ext cx="652459" cy="1331549"/>
          </a:xfrm>
          <a:custGeom>
            <a:avLst/>
            <a:gdLst/>
            <a:ahLst/>
            <a:cxnLst/>
            <a:rect r="r" b="b" t="t" l="l"/>
            <a:pathLst>
              <a:path h="1331549" w="652459">
                <a:moveTo>
                  <a:pt x="0" y="0"/>
                </a:moveTo>
                <a:lnTo>
                  <a:pt x="652459" y="0"/>
                </a:lnTo>
                <a:lnTo>
                  <a:pt x="652459" y="1331549"/>
                </a:lnTo>
                <a:lnTo>
                  <a:pt x="0" y="13315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81710" y="7491579"/>
            <a:ext cx="801114" cy="1112658"/>
          </a:xfrm>
          <a:custGeom>
            <a:avLst/>
            <a:gdLst/>
            <a:ahLst/>
            <a:cxnLst/>
            <a:rect r="r" b="b" t="t" l="l"/>
            <a:pathLst>
              <a:path h="1112658" w="801114">
                <a:moveTo>
                  <a:pt x="0" y="0"/>
                </a:moveTo>
                <a:lnTo>
                  <a:pt x="801113" y="0"/>
                </a:lnTo>
                <a:lnTo>
                  <a:pt x="801113" y="1112658"/>
                </a:lnTo>
                <a:lnTo>
                  <a:pt x="0" y="11126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937057" y="2101006"/>
            <a:ext cx="396238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-12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REST MODE INTELLIGENTE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37057" y="4531974"/>
            <a:ext cx="437949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-12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CUSTOM GESTURE MAPPER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37057" y="6905792"/>
            <a:ext cx="4293628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-12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FILTRO ANTI-TREMORE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937057" y="2719684"/>
            <a:ext cx="4379493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Congela istantaneamente il cursore quando distogli lo sguardo dallo schermo per evitare clic accidentali, riattivandosi in modo fluido al ritorno dell'attenzione.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37057" y="5150652"/>
            <a:ext cx="4379493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Associa qualsiasi movimento residuo del viso o del corpo (spalle, sopracciglia, bocca, inclinazione della testa) ai comandi del computer.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37057" y="7524470"/>
            <a:ext cx="4379493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Isola e sopprime in tempo reale le oscillazioni muscolari involontarie, adattando lo schermo al range effettivo di movimento dell'utente.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6319" y="1485691"/>
            <a:ext cx="9250199" cy="224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0"/>
              </a:lnSpc>
            </a:pPr>
            <a:r>
              <a:rPr lang="en-US" sz="9000" spc="-422" b="true">
                <a:solidFill>
                  <a:srgbClr val="FFFFFF"/>
                </a:solidFill>
                <a:latin typeface="Hagrid Medium"/>
                <a:ea typeface="Hagrid Medium"/>
                <a:cs typeface="Hagrid Medium"/>
                <a:sym typeface="Hagrid Medium"/>
              </a:rPr>
              <a:t>Le Funzionalità Principali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6319" y="4531866"/>
            <a:ext cx="8797095" cy="183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spc="-1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Un'interfaccia gestuale adattiva che trasforma una normale webcam in un sistema di controllo personalizzato per l'accessibilità motoria.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66319" y="763422"/>
            <a:ext cx="509208" cy="428599"/>
          </a:xfrm>
          <a:custGeom>
            <a:avLst/>
            <a:gdLst/>
            <a:ahLst/>
            <a:cxnLst/>
            <a:rect r="r" b="b" t="t" l="l"/>
            <a:pathLst>
              <a:path h="428599" w="509208">
                <a:moveTo>
                  <a:pt x="0" y="0"/>
                </a:moveTo>
                <a:lnTo>
                  <a:pt x="509207" y="0"/>
                </a:lnTo>
                <a:lnTo>
                  <a:pt x="509207" y="428600"/>
                </a:lnTo>
                <a:lnTo>
                  <a:pt x="0" y="428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906760" y="650408"/>
            <a:ext cx="2794872" cy="5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3477" spc="-163" b="true">
                <a:solidFill>
                  <a:srgbClr val="FFFFF8"/>
                </a:solidFill>
                <a:latin typeface="DM Sans Bold"/>
                <a:ea typeface="DM Sans Bold"/>
                <a:cs typeface="DM Sans Bold"/>
                <a:sym typeface="DM Sans Bold"/>
              </a:rPr>
              <a:t>SteadyMotion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09146" y="869633"/>
            <a:ext cx="3450154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0"/>
              </a:lnSpc>
            </a:pPr>
            <a:r>
              <a:rPr lang="en-US" sz="1500" spc="-84">
                <a:solidFill>
                  <a:srgbClr val="FFFFF8"/>
                </a:solidFill>
                <a:latin typeface="Hagrid"/>
                <a:ea typeface="Hagrid"/>
                <a:cs typeface="Hagrid"/>
                <a:sym typeface="Hagrid"/>
              </a:rPr>
              <a:t>By Achir,Desogus,Ponzin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6319" y="763422"/>
            <a:ext cx="509208" cy="428599"/>
          </a:xfrm>
          <a:custGeom>
            <a:avLst/>
            <a:gdLst/>
            <a:ahLst/>
            <a:cxnLst/>
            <a:rect r="r" b="b" t="t" l="l"/>
            <a:pathLst>
              <a:path h="428599" w="509208">
                <a:moveTo>
                  <a:pt x="0" y="0"/>
                </a:moveTo>
                <a:lnTo>
                  <a:pt x="509207" y="0"/>
                </a:lnTo>
                <a:lnTo>
                  <a:pt x="509207" y="428600"/>
                </a:lnTo>
                <a:lnTo>
                  <a:pt x="0" y="42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18723" y="5044445"/>
            <a:ext cx="11359122" cy="11359122"/>
          </a:xfrm>
          <a:custGeom>
            <a:avLst/>
            <a:gdLst/>
            <a:ahLst/>
            <a:cxnLst/>
            <a:rect r="r" b="b" t="t" l="l"/>
            <a:pathLst>
              <a:path h="11359122" w="11359122">
                <a:moveTo>
                  <a:pt x="0" y="0"/>
                </a:moveTo>
                <a:lnTo>
                  <a:pt x="11359122" y="0"/>
                </a:lnTo>
                <a:lnTo>
                  <a:pt x="11359122" y="11359123"/>
                </a:lnTo>
                <a:lnTo>
                  <a:pt x="0" y="11359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650861" y="5657850"/>
            <a:ext cx="11359122" cy="11359122"/>
          </a:xfrm>
          <a:custGeom>
            <a:avLst/>
            <a:gdLst/>
            <a:ahLst/>
            <a:cxnLst/>
            <a:rect r="r" b="b" t="t" l="l"/>
            <a:pathLst>
              <a:path h="11359122" w="11359122">
                <a:moveTo>
                  <a:pt x="0" y="0"/>
                </a:moveTo>
                <a:lnTo>
                  <a:pt x="11359122" y="0"/>
                </a:lnTo>
                <a:lnTo>
                  <a:pt x="11359122" y="11359122"/>
                </a:lnTo>
                <a:lnTo>
                  <a:pt x="0" y="113591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5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3379" y="-4428780"/>
            <a:ext cx="6101241" cy="6101241"/>
          </a:xfrm>
          <a:custGeom>
            <a:avLst/>
            <a:gdLst/>
            <a:ahLst/>
            <a:cxnLst/>
            <a:rect r="r" b="b" t="t" l="l"/>
            <a:pathLst>
              <a:path h="6101241" w="6101241">
                <a:moveTo>
                  <a:pt x="0" y="0"/>
                </a:moveTo>
                <a:lnTo>
                  <a:pt x="6101242" y="0"/>
                </a:lnTo>
                <a:lnTo>
                  <a:pt x="6101242" y="6101241"/>
                </a:lnTo>
                <a:lnTo>
                  <a:pt x="0" y="61012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701013" y="6273680"/>
            <a:ext cx="274777" cy="2747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8FF6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216136" y="6273680"/>
            <a:ext cx="274777" cy="2747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8FF6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83562" y="1775908"/>
            <a:ext cx="5229758" cy="5763344"/>
            <a:chOff x="0" y="0"/>
            <a:chExt cx="1377385" cy="15179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7385" cy="1517918"/>
            </a:xfrm>
            <a:custGeom>
              <a:avLst/>
              <a:gdLst/>
              <a:ahLst/>
              <a:cxnLst/>
              <a:rect r="r" b="b" t="t" l="l"/>
              <a:pathLst>
                <a:path h="1517918" w="1377385">
                  <a:moveTo>
                    <a:pt x="29607" y="0"/>
                  </a:moveTo>
                  <a:lnTo>
                    <a:pt x="1347778" y="0"/>
                  </a:lnTo>
                  <a:cubicBezTo>
                    <a:pt x="1355630" y="0"/>
                    <a:pt x="1363161" y="3119"/>
                    <a:pt x="1368713" y="8672"/>
                  </a:cubicBezTo>
                  <a:cubicBezTo>
                    <a:pt x="1374266" y="14224"/>
                    <a:pt x="1377385" y="21755"/>
                    <a:pt x="1377385" y="29607"/>
                  </a:cubicBezTo>
                  <a:lnTo>
                    <a:pt x="1377385" y="1488311"/>
                  </a:lnTo>
                  <a:cubicBezTo>
                    <a:pt x="1377385" y="1496163"/>
                    <a:pt x="1374266" y="1503694"/>
                    <a:pt x="1368713" y="1509246"/>
                  </a:cubicBezTo>
                  <a:cubicBezTo>
                    <a:pt x="1363161" y="1514799"/>
                    <a:pt x="1355630" y="1517918"/>
                    <a:pt x="1347778" y="1517918"/>
                  </a:cubicBezTo>
                  <a:lnTo>
                    <a:pt x="29607" y="1517918"/>
                  </a:lnTo>
                  <a:cubicBezTo>
                    <a:pt x="21755" y="1517918"/>
                    <a:pt x="14224" y="1514799"/>
                    <a:pt x="8672" y="1509246"/>
                  </a:cubicBezTo>
                  <a:cubicBezTo>
                    <a:pt x="3119" y="1503694"/>
                    <a:pt x="0" y="1496163"/>
                    <a:pt x="0" y="1488311"/>
                  </a:cubicBezTo>
                  <a:lnTo>
                    <a:pt x="0" y="29607"/>
                  </a:lnTo>
                  <a:cubicBezTo>
                    <a:pt x="0" y="21755"/>
                    <a:pt x="3119" y="14224"/>
                    <a:pt x="8672" y="8672"/>
                  </a:cubicBezTo>
                  <a:cubicBezTo>
                    <a:pt x="14224" y="3119"/>
                    <a:pt x="21755" y="0"/>
                    <a:pt x="2960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0"/>
                  </a:srgbClr>
                </a:gs>
                <a:gs pos="50000">
                  <a:srgbClr val="FFFFFF">
                    <a:alpha val="1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0"/>
            </a:gradFill>
            <a:ln w="19050" cap="sq">
              <a:gradFill>
                <a:gsLst>
                  <a:gs pos="0">
                    <a:srgbClr val="FFFFF8">
                      <a:alpha val="100000"/>
                    </a:srgbClr>
                  </a:gs>
                  <a:gs pos="100000">
                    <a:srgbClr val="FFFFF8">
                      <a:alpha val="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377385" cy="1536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76859" y="2158880"/>
            <a:ext cx="274777" cy="27477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8FF6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906760" y="650408"/>
            <a:ext cx="2794872" cy="587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3477" spc="-163" b="true">
                <a:solidFill>
                  <a:srgbClr val="FFFFF8"/>
                </a:solidFill>
                <a:latin typeface="DM Sans Bold"/>
                <a:ea typeface="DM Sans Bold"/>
                <a:cs typeface="DM Sans Bold"/>
                <a:sym typeface="DM Sans Bold"/>
              </a:rPr>
              <a:t>SteadyMotion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09146" y="869633"/>
            <a:ext cx="3450154" cy="23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0"/>
              </a:lnSpc>
            </a:pPr>
            <a:r>
              <a:rPr lang="en-US" sz="1500" spc="-84">
                <a:solidFill>
                  <a:srgbClr val="FFFFF8"/>
                </a:solidFill>
                <a:latin typeface="Hagrid"/>
                <a:ea typeface="Hagrid"/>
                <a:cs typeface="Hagrid"/>
                <a:sym typeface="Hagrid"/>
              </a:rPr>
              <a:t>By Achir,Desogus,Ponzin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19800" y="6215806"/>
            <a:ext cx="352073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-12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AUTONOMIA E PERSONALIZZAZIONE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38563" y="6215806"/>
            <a:ext cx="352073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-12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OPEN SOURCE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99286" y="2101006"/>
            <a:ext cx="352073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600" spc="-122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ACCESSIBILITÀ UNIVERSALE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01013" y="7017385"/>
            <a:ext cx="3897288" cy="169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 spc="-1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Utenti e fisioterapisti modellano la navigazione sulle reali capacità motorie della persona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16136" y="7017385"/>
            <a:ext cx="3897288" cy="212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0"/>
              </a:lnSpc>
            </a:pPr>
            <a:r>
              <a:rPr lang="en-US" sz="2450" spc="-1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personalizzazione medica più avanzata al mondo, libera e accessibile a chiunque abbia un computer.</a:t>
            </a:r>
          </a:p>
          <a:p>
            <a:pPr algn="l">
              <a:lnSpc>
                <a:spcPts val="343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014248" y="3579429"/>
            <a:ext cx="4043164" cy="5029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3"/>
              </a:lnSpc>
            </a:pPr>
            <a:r>
              <a:rPr lang="en-US" sz="2452" spc="-1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Azzera i costi hardware sfruttando la tecnologia già presente in ogni computer standard.</a:t>
            </a:r>
          </a:p>
          <a:p>
            <a:pPr algn="l">
              <a:lnSpc>
                <a:spcPts val="2800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7115438" y="2105504"/>
            <a:ext cx="9250199" cy="224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60"/>
              </a:lnSpc>
              <a:spcBef>
                <a:spcPct val="0"/>
              </a:spcBef>
            </a:pPr>
            <a:r>
              <a:rPr lang="en-US" b="true" sz="9000" spc="-422">
                <a:solidFill>
                  <a:srgbClr val="FFFFFF"/>
                </a:solidFill>
                <a:latin typeface="Hagrid Medium"/>
                <a:ea typeface="Hagrid Medium"/>
                <a:cs typeface="Hagrid Medium"/>
                <a:sym typeface="Hagrid Medium"/>
              </a:rPr>
              <a:t>Perché Sceglierci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DAHWLsW8law</dc:identifier>
  <dcterms:modified xsi:type="dcterms:W3CDTF">2011-08-01T06:04:30Z</dcterms:modified>
  <cp:revision>1</cp:revision>
  <dc:title>Steady Motion AI</dc:title>
</cp:coreProperties>
</file>